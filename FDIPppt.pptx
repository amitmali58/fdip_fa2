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60" r:id="rId5"/>
    <p:sldId id="265" r:id="rId6"/>
    <p:sldId id="267" r:id="rId7"/>
    <p:sldId id="266" r:id="rId8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50" d="100"/>
          <a:sy n="50" d="100"/>
        </p:scale>
        <p:origin x="946" y="2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10"/>
            <a:ext cx="18212493" cy="1028318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3808"/>
            <a:ext cx="803275" cy="10283190"/>
          </a:xfrm>
          <a:custGeom>
            <a:avLst/>
            <a:gdLst/>
            <a:ahLst/>
            <a:cxnLst/>
            <a:rect l="l" t="t" r="r" b="b"/>
            <a:pathLst>
              <a:path w="803275" h="10283190">
                <a:moveTo>
                  <a:pt x="803148" y="10282998"/>
                </a:moveTo>
                <a:lnTo>
                  <a:pt x="0" y="10282998"/>
                </a:lnTo>
                <a:lnTo>
                  <a:pt x="0" y="0"/>
                </a:lnTo>
                <a:lnTo>
                  <a:pt x="803148" y="0"/>
                </a:lnTo>
                <a:lnTo>
                  <a:pt x="803148" y="10282998"/>
                </a:lnTo>
                <a:close/>
              </a:path>
            </a:pathLst>
          </a:custGeom>
          <a:solidFill>
            <a:srgbClr val="583C8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27125" y="183513"/>
            <a:ext cx="2765425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50" dirty="0"/>
              <a:t>1</a:t>
            </a:r>
            <a:endParaRPr spc="-5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50" dirty="0"/>
              <a:t>1</a:t>
            </a:r>
            <a:endParaRPr spc="-5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50" dirty="0"/>
              <a:t>1</a:t>
            </a:r>
            <a:endParaRPr spc="-5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10"/>
            <a:ext cx="18212493" cy="1028318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3808"/>
            <a:ext cx="803275" cy="10283190"/>
          </a:xfrm>
          <a:custGeom>
            <a:avLst/>
            <a:gdLst/>
            <a:ahLst/>
            <a:cxnLst/>
            <a:rect l="l" t="t" r="r" b="b"/>
            <a:pathLst>
              <a:path w="803275" h="10283190">
                <a:moveTo>
                  <a:pt x="803148" y="10282998"/>
                </a:moveTo>
                <a:lnTo>
                  <a:pt x="0" y="10282998"/>
                </a:lnTo>
                <a:lnTo>
                  <a:pt x="0" y="0"/>
                </a:lnTo>
                <a:lnTo>
                  <a:pt x="803148" y="0"/>
                </a:lnTo>
                <a:lnTo>
                  <a:pt x="803148" y="10282998"/>
                </a:lnTo>
                <a:close/>
              </a:path>
            </a:pathLst>
          </a:custGeom>
          <a:solidFill>
            <a:srgbClr val="583C8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50" dirty="0"/>
              <a:t>1</a:t>
            </a:r>
            <a:endParaRPr spc="-5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10"/>
            <a:ext cx="18212493" cy="1028318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808"/>
            <a:ext cx="18187912" cy="10283188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3808"/>
            <a:ext cx="803275" cy="10283190"/>
          </a:xfrm>
          <a:custGeom>
            <a:avLst/>
            <a:gdLst/>
            <a:ahLst/>
            <a:cxnLst/>
            <a:rect l="l" t="t" r="r" b="b"/>
            <a:pathLst>
              <a:path w="803275" h="10283190">
                <a:moveTo>
                  <a:pt x="803148" y="10282998"/>
                </a:moveTo>
                <a:lnTo>
                  <a:pt x="0" y="10282998"/>
                </a:lnTo>
                <a:lnTo>
                  <a:pt x="0" y="0"/>
                </a:lnTo>
                <a:lnTo>
                  <a:pt x="803148" y="0"/>
                </a:lnTo>
                <a:lnTo>
                  <a:pt x="803148" y="10282998"/>
                </a:lnTo>
                <a:close/>
              </a:path>
            </a:pathLst>
          </a:custGeom>
          <a:solidFill>
            <a:srgbClr val="583C8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8700" y="335672"/>
            <a:ext cx="1744510" cy="174451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50" dirty="0"/>
              <a:t>1</a:t>
            </a:r>
            <a:endParaRPr spc="-5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3810"/>
            <a:ext cx="18212493" cy="1028318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27125" y="183513"/>
            <a:ext cx="6223000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40065" y="2431397"/>
            <a:ext cx="14493875" cy="2483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6778312" y="9732297"/>
            <a:ext cx="141605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50" dirty="0"/>
              <a:t>1</a:t>
            </a:r>
            <a:endParaRPr spc="-5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46985" y="211455"/>
            <a:ext cx="13615670" cy="8081645"/>
          </a:xfrm>
          <a:prstGeom prst="rect">
            <a:avLst/>
          </a:prstGeom>
        </p:spPr>
        <p:txBody>
          <a:bodyPr vert="horz" wrap="square" lIns="0" tIns="64769" rIns="0" bIns="0" rtlCol="0">
            <a:noAutofit/>
          </a:bodyPr>
          <a:lstStyle/>
          <a:p>
            <a:pPr marL="883285" algn="ctr">
              <a:lnSpc>
                <a:spcPct val="100000"/>
              </a:lnSpc>
              <a:spcBef>
                <a:spcPts val="510"/>
              </a:spcBef>
            </a:pPr>
            <a:r>
              <a:rPr sz="2200" dirty="0">
                <a:latin typeface="Arial MT"/>
                <a:cs typeface="Arial MT"/>
              </a:rPr>
              <a:t>Pimpri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Chinchwad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Education</a:t>
            </a:r>
            <a:r>
              <a:rPr sz="2200" spc="-10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Trust’s</a:t>
            </a:r>
            <a:endParaRPr sz="2200" dirty="0">
              <a:latin typeface="Arial MT"/>
              <a:cs typeface="Arial MT"/>
            </a:endParaRPr>
          </a:p>
          <a:p>
            <a:pPr marL="871855" algn="ctr">
              <a:lnSpc>
                <a:spcPct val="100000"/>
              </a:lnSpc>
              <a:spcBef>
                <a:spcPts val="510"/>
              </a:spcBef>
            </a:pPr>
            <a:r>
              <a:rPr sz="2700" b="1" dirty="0">
                <a:latin typeface="Arial" panose="020B0604020202020204"/>
                <a:cs typeface="Arial" panose="020B0604020202020204"/>
              </a:rPr>
              <a:t>Pimpri</a:t>
            </a:r>
            <a:r>
              <a:rPr sz="2700"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latin typeface="Arial" panose="020B0604020202020204"/>
                <a:cs typeface="Arial" panose="020B0604020202020204"/>
              </a:rPr>
              <a:t>Chinchwad</a:t>
            </a:r>
            <a:r>
              <a:rPr sz="27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latin typeface="Arial" panose="020B0604020202020204"/>
                <a:cs typeface="Arial" panose="020B0604020202020204"/>
              </a:rPr>
              <a:t>College</a:t>
            </a:r>
            <a:r>
              <a:rPr sz="27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latin typeface="Arial" panose="020B0604020202020204"/>
                <a:cs typeface="Arial" panose="020B0604020202020204"/>
              </a:rPr>
              <a:t>of</a:t>
            </a:r>
            <a:r>
              <a:rPr sz="27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latin typeface="Arial" panose="020B0604020202020204"/>
                <a:cs typeface="Arial" panose="020B0604020202020204"/>
              </a:rPr>
              <a:t>Engineering</a:t>
            </a:r>
            <a:r>
              <a:rPr sz="27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700" b="1" spc="-20" dirty="0">
                <a:latin typeface="Arial" panose="020B0604020202020204"/>
                <a:cs typeface="Arial" panose="020B0604020202020204"/>
              </a:rPr>
              <a:t>(PCCoE)</a:t>
            </a:r>
            <a:endParaRPr sz="2700" dirty="0">
              <a:latin typeface="Arial" panose="020B0604020202020204"/>
              <a:cs typeface="Arial" panose="020B0604020202020204"/>
            </a:endParaRPr>
          </a:p>
          <a:p>
            <a:pPr marL="883285" algn="ctr">
              <a:lnSpc>
                <a:spcPct val="100000"/>
              </a:lnSpc>
              <a:spcBef>
                <a:spcPts val="670"/>
              </a:spcBef>
            </a:pPr>
            <a:r>
              <a:rPr sz="2200" spc="-10" dirty="0">
                <a:latin typeface="Arial MT"/>
                <a:cs typeface="Arial MT"/>
              </a:rPr>
              <a:t>Affiliated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Savitribai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Phule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Pune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University(SPPU)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50"/>
              </a:spcBef>
            </a:pPr>
            <a:endParaRPr sz="2200" dirty="0">
              <a:latin typeface="Arial MT"/>
              <a:cs typeface="Arial MT"/>
            </a:endParaRPr>
          </a:p>
          <a:p>
            <a:pPr marL="3999230">
              <a:lnSpc>
                <a:spcPct val="100000"/>
              </a:lnSpc>
            </a:pPr>
            <a:r>
              <a:rPr sz="3000" b="1" dirty="0">
                <a:latin typeface="Times New Roman" panose="02020603050405020304"/>
                <a:cs typeface="Times New Roman" panose="02020603050405020304"/>
              </a:rPr>
              <a:t>Department</a:t>
            </a:r>
            <a:r>
              <a:rPr sz="30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b="1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30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b="1" spc="-20" dirty="0">
                <a:latin typeface="Times New Roman" panose="02020603050405020304"/>
                <a:cs typeface="Times New Roman" panose="02020603050405020304"/>
              </a:rPr>
              <a:t>Information</a:t>
            </a:r>
            <a:r>
              <a:rPr sz="3000" b="1" spc="-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b="1" spc="-10" dirty="0">
                <a:latin typeface="Times New Roman" panose="02020603050405020304"/>
                <a:cs typeface="Times New Roman" panose="02020603050405020304"/>
              </a:rPr>
              <a:t>Technology</a:t>
            </a:r>
            <a:endParaRPr sz="3000" dirty="0">
              <a:latin typeface="Times New Roman" panose="02020603050405020304"/>
              <a:cs typeface="Times New Roman" panose="02020603050405020304"/>
            </a:endParaRPr>
          </a:p>
          <a:p>
            <a:pPr marL="5829300" marR="4937125" indent="603250">
              <a:lnSpc>
                <a:spcPct val="114000"/>
              </a:lnSpc>
              <a:spcBef>
                <a:spcPts val="55"/>
              </a:spcBef>
            </a:pPr>
            <a:r>
              <a:rPr sz="2800" dirty="0">
                <a:latin typeface="Times New Roman" panose="02020603050405020304"/>
                <a:cs typeface="Times New Roman" panose="02020603050405020304"/>
              </a:rPr>
              <a:t>Third</a:t>
            </a:r>
            <a:r>
              <a:rPr sz="2800" spc="-1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Year (2025-26</a:t>
            </a:r>
            <a:r>
              <a:rPr sz="2800" spc="-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Sem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28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V)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883920" algn="ctr">
              <a:lnSpc>
                <a:spcPct val="100000"/>
              </a:lnSpc>
              <a:spcBef>
                <a:spcPts val="1850"/>
              </a:spcBef>
            </a:pPr>
            <a:r>
              <a:rPr lang="en-US" altLang="en-US" sz="4000" b="1" dirty="0">
                <a:latin typeface="Times New Roman" panose="02020603050405020304" charset="0"/>
                <a:cs typeface="Times New Roman" panose="02020603050405020304" charset="0"/>
              </a:rPr>
              <a:t>AI-Powered </a:t>
            </a:r>
            <a:r>
              <a:rPr lang="en-IN" altLang="en-US" sz="4000" b="1" dirty="0">
                <a:latin typeface="Times New Roman" panose="02020603050405020304" charset="0"/>
                <a:cs typeface="Times New Roman" panose="02020603050405020304" charset="0"/>
              </a:rPr>
              <a:t>Forestfire</a:t>
            </a:r>
            <a:r>
              <a:rPr lang="en-US" altLang="en-US" sz="4000" b="1" dirty="0">
                <a:latin typeface="Times New Roman" panose="02020603050405020304" charset="0"/>
                <a:cs typeface="Times New Roman" panose="02020603050405020304" charset="0"/>
              </a:rPr>
              <a:t> Detection using Satellite Image Processing</a:t>
            </a:r>
            <a:endParaRPr lang="en-US" altLang="en-US" sz="4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883920" algn="ctr">
              <a:lnSpc>
                <a:spcPct val="100000"/>
              </a:lnSpc>
              <a:spcBef>
                <a:spcPts val="1850"/>
              </a:spcBef>
            </a:pPr>
            <a:r>
              <a:rPr sz="2800" dirty="0">
                <a:latin typeface="Times New Roman" panose="02020603050405020304"/>
                <a:cs typeface="Times New Roman" panose="02020603050405020304"/>
              </a:rPr>
              <a:t>Course</a:t>
            </a:r>
            <a:r>
              <a:rPr sz="2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Name-</a:t>
            </a:r>
            <a:r>
              <a:rPr lang="en-IN" altLang="" sz="2800" dirty="0">
                <a:latin typeface="Times New Roman" panose="02020603050405020304"/>
                <a:cs typeface="Times New Roman" panose="02020603050405020304"/>
              </a:rPr>
              <a:t>Fundamentals of Digital Image Processing</a:t>
            </a:r>
            <a:endParaRPr lang="en-IN" altLang="" sz="2800" dirty="0">
              <a:latin typeface="Times New Roman" panose="02020603050405020304"/>
              <a:cs typeface="Times New Roman" panose="02020603050405020304"/>
            </a:endParaRPr>
          </a:p>
          <a:p>
            <a:pPr marL="883920" algn="ctr">
              <a:lnSpc>
                <a:spcPct val="100000"/>
              </a:lnSpc>
              <a:spcBef>
                <a:spcPts val="1850"/>
              </a:spcBef>
            </a:pP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Formative</a:t>
            </a:r>
            <a:r>
              <a:rPr sz="2800" spc="-16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Assessment </a:t>
            </a:r>
            <a:r>
              <a:rPr sz="2800" spc="-50" dirty="0">
                <a:latin typeface="Times New Roman" panose="02020603050405020304"/>
                <a:cs typeface="Times New Roman" panose="02020603050405020304"/>
                <a:sym typeface="+mn-ea"/>
              </a:rPr>
              <a:t>I</a:t>
            </a:r>
            <a:r>
              <a:rPr lang="en-IN" altLang="en-US" sz="2800" spc="-50" dirty="0">
                <a:latin typeface="Times New Roman" panose="02020603050405020304"/>
                <a:cs typeface="Times New Roman" panose="02020603050405020304"/>
                <a:sym typeface="+mn-ea"/>
              </a:rPr>
              <a:t>I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2974340" marR="2091690" algn="ctr">
              <a:lnSpc>
                <a:spcPct val="120000"/>
              </a:lnSpc>
              <a:spcBef>
                <a:spcPts val="5240"/>
              </a:spcBef>
            </a:pPr>
            <a:endParaRPr lang="en-IN" altLang="en-US" sz="2800" dirty="0">
              <a:latin typeface="Times New Roman" panose="02020603050405020304"/>
              <a:cs typeface="Times New Roman" panose="02020603050405020304"/>
            </a:endParaRPr>
          </a:p>
          <a:p>
            <a:pPr marL="12700" marR="9197975">
              <a:lnSpc>
                <a:spcPct val="144000"/>
              </a:lnSpc>
              <a:spcBef>
                <a:spcPts val="3065"/>
              </a:spcBef>
              <a:tabLst>
                <a:tab pos="1355090" algn="l"/>
              </a:tabLst>
            </a:pPr>
            <a:endParaRPr lang="en-IN" altLang="en-US" sz="2800" dirty="0">
              <a:latin typeface="Times New Roman" panose="02020603050405020304"/>
              <a:cs typeface="Times New Roman" panose="02020603050405020304"/>
            </a:endParaRPr>
          </a:p>
          <a:p>
            <a:pPr marL="12700" marR="9197975">
              <a:lnSpc>
                <a:spcPct val="144000"/>
              </a:lnSpc>
              <a:spcBef>
                <a:spcPts val="3065"/>
              </a:spcBef>
              <a:tabLst>
                <a:tab pos="1355090" algn="l"/>
              </a:tabLst>
            </a:pPr>
            <a:endParaRPr lang="en-IN" altLang="en-US" sz="2800" dirty="0">
              <a:latin typeface="Times New Roman" panose="02020603050405020304"/>
              <a:cs typeface="Times New Roman" panose="02020603050405020304"/>
            </a:endParaRPr>
          </a:p>
          <a:p>
            <a:pPr marL="12700" marR="9197975">
              <a:lnSpc>
                <a:spcPct val="144000"/>
              </a:lnSpc>
              <a:spcBef>
                <a:spcPts val="3065"/>
              </a:spcBef>
              <a:tabLst>
                <a:tab pos="1355090" algn="l"/>
              </a:tabLst>
            </a:pPr>
            <a:endParaRPr lang="en-IN" altLang="en-US" sz="2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50" dirty="0"/>
              <a:t>1</a:t>
            </a:r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10274935" y="7277100"/>
            <a:ext cx="6503670" cy="168211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lang="en-IN" altLang="" sz="3000" dirty="0">
                <a:latin typeface="Times New Roman" panose="02020603050405020304"/>
                <a:cs typeface="Times New Roman" panose="02020603050405020304"/>
              </a:rPr>
              <a:t>ui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ded</a:t>
            </a:r>
            <a:r>
              <a:rPr sz="3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3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3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spc="-10" dirty="0">
                <a:latin typeface="Times New Roman" panose="02020603050405020304" charset="0"/>
                <a:cs typeface="Times New Roman" panose="02020603050405020304" charset="0"/>
              </a:rPr>
              <a:t>Dr.</a:t>
            </a:r>
            <a:r>
              <a:rPr sz="30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IN" altLang="" sz="3000" spc="-40" dirty="0">
                <a:latin typeface="Times New Roman" panose="02020603050405020304" charset="0"/>
                <a:cs typeface="Times New Roman" panose="02020603050405020304" charset="0"/>
              </a:rPr>
              <a:t>Harsha Bhute</a:t>
            </a:r>
            <a:endParaRPr lang="en-IN" altLang="" sz="3000" spc="-4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2057400" y="7226300"/>
            <a:ext cx="6522720" cy="237109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en-US" sz="3000" spc="-40" dirty="0">
                <a:latin typeface="Times New Roman" panose="02020603050405020304"/>
                <a:cs typeface="Times New Roman" panose="02020603050405020304"/>
              </a:rPr>
              <a:t>Presented By</a:t>
            </a:r>
            <a:r>
              <a:rPr sz="3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3000" spc="-45" dirty="0">
                <a:latin typeface="Times New Roman" panose="02020603050405020304"/>
                <a:cs typeface="Times New Roman" panose="02020603050405020304"/>
              </a:rPr>
              <a:t> </a:t>
            </a:r>
            <a:endParaRPr sz="3000" spc="-45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en-US" sz="3000" dirty="0">
                <a:latin typeface="Times New Roman" panose="02020603050405020304" charset="0"/>
                <a:cs typeface="Times New Roman" panose="02020603050405020304" charset="0"/>
              </a:rPr>
              <a:t>Amit Mali          [123B1F058]</a:t>
            </a:r>
            <a:endParaRPr lang="en-IN" altLang="en-US" sz="3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5400" y="266698"/>
            <a:ext cx="6223000" cy="935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20" dirty="0">
                <a:latin typeface="Times New Roman" panose="02020603050405020304" charset="0"/>
                <a:cs typeface="Times New Roman" panose="02020603050405020304" charset="0"/>
              </a:rPr>
              <a:t>Aim:</a:t>
            </a:r>
            <a:endParaRPr lang="en-IN" spc="-2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16778312" y="9732297"/>
            <a:ext cx="141605" cy="231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50" dirty="0"/>
              <a:t>2</a:t>
            </a:r>
            <a:endParaRPr lang="en-IN" spc="-50" dirty="0"/>
          </a:p>
        </p:txBody>
      </p:sp>
      <p:sp>
        <p:nvSpPr>
          <p:cNvPr id="5" name="Text Box 4"/>
          <p:cNvSpPr txBox="1"/>
          <p:nvPr/>
        </p:nvSpPr>
        <p:spPr>
          <a:xfrm>
            <a:off x="1739900" y="1943100"/>
            <a:ext cx="14300835" cy="1461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en-US" sz="3200">
                <a:latin typeface="Times New Roman" panose="02020603050405020304" charset="0"/>
                <a:cs typeface="Times New Roman" panose="02020603050405020304" charset="0"/>
              </a:rPr>
              <a:t>The aim is to build an efficient system for detecting wildfires accurately from satellite images.</a:t>
            </a:r>
            <a:endParaRPr lang="en-US" alt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object 2"/>
          <p:cNvSpPr txBox="1">
            <a:spLocks noGrp="1"/>
          </p:cNvSpPr>
          <p:nvPr/>
        </p:nvSpPr>
        <p:spPr>
          <a:xfrm>
            <a:off x="1254125" y="3695698"/>
            <a:ext cx="6223000" cy="935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" panose="020F0502020204030204"/>
                <a:ea typeface="+mj-ea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20" dirty="0">
                <a:latin typeface="Times New Roman" panose="02020603050405020304" charset="0"/>
                <a:cs typeface="Times New Roman" panose="02020603050405020304" charset="0"/>
              </a:rPr>
              <a:t>Objectives:</a:t>
            </a:r>
            <a:endParaRPr lang="en-IN" spc="-2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1739900" y="4991100"/>
            <a:ext cx="14337665" cy="3835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3000">
                <a:latin typeface="Times New Roman" panose="02020603050405020304" charset="0"/>
                <a:cs typeface="Times New Roman" panose="02020603050405020304" charset="0"/>
              </a:rPr>
              <a:t>To preprocess satellite images by enhancing quality, resizing, and augmenting to improve feature extraction for fire detection.</a:t>
            </a:r>
            <a:endParaRPr lang="en-US" altLang="en-US" sz="3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3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3000">
                <a:latin typeface="Times New Roman" panose="02020603050405020304" charset="0"/>
                <a:cs typeface="Times New Roman" panose="02020603050405020304" charset="0"/>
              </a:rPr>
              <a:t>To build and train a deep learning model that learns important visual features from processed images to classify wildfire presence accurately.</a:t>
            </a:r>
            <a:endParaRPr lang="en-US" altLang="en-US" sz="3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3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3000">
                <a:latin typeface="Times New Roman" panose="02020603050405020304" charset="0"/>
                <a:cs typeface="Times New Roman" panose="02020603050405020304" charset="0"/>
              </a:rPr>
              <a:t>To validate the model’s performance across diverse satellite images to ensure reliable wildfire detection in various real-world scenarios.</a:t>
            </a:r>
            <a:endParaRPr lang="en-US" altLang="en-US" sz="3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7125" y="183513"/>
            <a:ext cx="6223000" cy="935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10" dirty="0">
                <a:latin typeface="Times New Roman" panose="02020603050405020304" charset="0"/>
                <a:cs typeface="Times New Roman" panose="02020603050405020304" charset="0"/>
              </a:rPr>
              <a:t>Literature Survey</a:t>
            </a:r>
            <a:r>
              <a:rPr spc="-10" dirty="0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spc="-1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16778312" y="9732297"/>
            <a:ext cx="141605" cy="231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50" dirty="0"/>
              <a:t>3</a:t>
            </a:r>
            <a:endParaRPr lang="en-IN" spc="-50" dirty="0"/>
          </a:p>
        </p:txBody>
      </p:sp>
      <p:sp>
        <p:nvSpPr>
          <p:cNvPr id="5" name="Text Box 4"/>
          <p:cNvSpPr txBox="1"/>
          <p:nvPr/>
        </p:nvSpPr>
        <p:spPr>
          <a:xfrm>
            <a:off x="1384300" y="1119503"/>
            <a:ext cx="15671800" cy="7543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981200" y="1409700"/>
          <a:ext cx="11884660" cy="83134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92730"/>
                <a:gridCol w="3149600"/>
                <a:gridCol w="2971165"/>
                <a:gridCol w="2971165"/>
              </a:tblGrid>
              <a:tr h="650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Author &amp; Year</a:t>
                      </a:r>
                      <a:endParaRPr lang="en-IN" sz="2000" dirty="0"/>
                    </a:p>
                  </a:txBody>
                  <a:tcPr marL="22989" marR="22989" marT="11495" marB="1149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Features</a:t>
                      </a:r>
                      <a:endParaRPr lang="en-IN" sz="2000" dirty="0"/>
                    </a:p>
                  </a:txBody>
                  <a:tcPr marL="22989" marR="22989" marT="11495" marB="1149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       Methodology Used</a:t>
                      </a:r>
                      <a:endParaRPr lang="en-IN" sz="2000" dirty="0"/>
                    </a:p>
                  </a:txBody>
                  <a:tcPr marL="22989" marR="22989" marT="11495" marB="1149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Limitations</a:t>
                      </a:r>
                      <a:endParaRPr lang="en-IN" sz="2000" dirty="0"/>
                    </a:p>
                  </a:txBody>
                  <a:tcPr marL="22989" marR="22989" marT="11495" marB="11495" anchor="ctr">
                    <a:solidFill>
                      <a:srgbClr val="92D050"/>
                    </a:solidFill>
                  </a:tcPr>
                </a:tc>
              </a:tr>
              <a:tr h="14401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 dirty="0"/>
                        <a:t>Ali &amp; Kurnaz (2025)</a:t>
                      </a:r>
                      <a:endParaRPr lang="en-US" altLang="en-US" sz="1800" dirty="0"/>
                    </a:p>
                  </a:txBody>
                  <a:tcPr marL="22989" marR="22989" marT="11495" marB="114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 dirty="0"/>
                        <a:t>Multi-sensor satellite wildfire data</a:t>
                      </a:r>
                      <a:r>
                        <a:rPr lang="en-IN" altLang="en-US" sz="1800" dirty="0"/>
                        <a:t>.</a:t>
                      </a:r>
                      <a:endParaRPr lang="en-IN" altLang="en-US" sz="1800" dirty="0"/>
                    </a:p>
                  </a:txBody>
                  <a:tcPr marL="22989" marR="22989" marT="11495" marB="114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1800"/>
                        <a:t> </a:t>
                      </a:r>
                      <a:r>
                        <a:rPr lang="en-US" altLang="en-US" sz="1800"/>
                        <a:t>CNN, U-Net, Autoencoder </a:t>
                      </a:r>
                      <a:r>
                        <a:rPr lang="en-IN" altLang="en-US" sz="1800"/>
                        <a:t>    m</a:t>
                      </a:r>
                      <a:r>
                        <a:rPr lang="en-US" altLang="en-US" sz="1800"/>
                        <a:t>odels</a:t>
                      </a:r>
                      <a:endParaRPr lang="en-US" altLang="en-US" sz="1800"/>
                    </a:p>
                  </a:txBody>
                  <a:tcPr marL="22989" marR="22989" marT="11495" marB="114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/>
                        <a:t>Needs large data; affected by clouds, delays</a:t>
                      </a:r>
                      <a:endParaRPr lang="en-US" altLang="en-US" sz="1800"/>
                    </a:p>
                  </a:txBody>
                  <a:tcPr marL="22989" marR="22989" marT="11495" marB="11495" anchor="ctr"/>
                </a:tc>
              </a:tr>
              <a:tr h="1416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 dirty="0"/>
                        <a:t>Yu &amp; Singh (2025)</a:t>
                      </a:r>
                      <a:endParaRPr lang="en-US" altLang="en-US" sz="1800" dirty="0"/>
                    </a:p>
                  </a:txBody>
                  <a:tcPr marL="22989" marR="22989" marT="11495" marB="114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/>
                        <a:t>Real-time remote sensing, GANs</a:t>
                      </a:r>
                      <a:endParaRPr lang="en-US" altLang="en-US" sz="1800"/>
                    </a:p>
                  </a:txBody>
                  <a:tcPr marL="22989" marR="22989" marT="11495" marB="114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1800"/>
                        <a:t> </a:t>
                      </a:r>
                      <a:r>
                        <a:rPr lang="en-US" altLang="en-US" sz="1800"/>
                        <a:t>U-Net, ConvLSTM, Attention ConvLSTM</a:t>
                      </a:r>
                      <a:endParaRPr lang="en-US" altLang="en-US" sz="1800"/>
                    </a:p>
                  </a:txBody>
                  <a:tcPr marL="22989" marR="22989" marT="11495" marB="114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/>
                        <a:t>Data gaps; risks of overfitting; regional</a:t>
                      </a:r>
                      <a:endParaRPr lang="en-US" altLang="en-US" sz="1800"/>
                    </a:p>
                  </a:txBody>
                  <a:tcPr marL="22989" marR="22989" marT="11495" marB="11495" anchor="ctr"/>
                </a:tc>
              </a:tr>
              <a:tr h="1416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/>
                        <a:t>Urbanelli et al. (2023)</a:t>
                      </a:r>
                      <a:endParaRPr lang="en-US" altLang="en-US" sz="1800"/>
                    </a:p>
                  </a:txBody>
                  <a:tcPr marL="22989" marR="22989" marT="11495" marB="114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/>
                        <a:t>Multi-satellite thermal hotspot data</a:t>
                      </a:r>
                      <a:endParaRPr lang="en-US" altLang="en-US" sz="1800"/>
                    </a:p>
                  </a:txBody>
                  <a:tcPr marL="22989" marR="22989" marT="11495" marB="114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1800"/>
                        <a:t> </a:t>
                      </a:r>
                      <a:r>
                        <a:rPr lang="en-US" altLang="en-US" sz="1800"/>
                        <a:t>Multimodal supervised ML</a:t>
                      </a:r>
                      <a:endParaRPr lang="en-US" altLang="en-US" sz="1800"/>
                    </a:p>
                  </a:txBody>
                  <a:tcPr marL="22989" marR="22989" marT="11495" marB="114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/>
                        <a:t>Small fires and real-time detection hard</a:t>
                      </a:r>
                      <a:endParaRPr lang="en-US" altLang="en-US" sz="1800"/>
                    </a:p>
                  </a:txBody>
                  <a:tcPr marL="22989" marR="22989" marT="11495" marB="11495" anchor="ctr"/>
                </a:tc>
              </a:tr>
              <a:tr h="16948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/>
                        <a:t>Ghali &amp; Akhloufi (2024)</a:t>
                      </a:r>
                      <a:endParaRPr lang="en-US" altLang="en-US" sz="1800"/>
                    </a:p>
                  </a:txBody>
                  <a:tcPr marL="22989" marR="22989" marT="11495" marB="114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/>
                        <a:t>RGB &amp; thermal aerial wildfire images</a:t>
                      </a:r>
                      <a:endParaRPr lang="en-US" altLang="en-US" sz="1800"/>
                    </a:p>
                  </a:txBody>
                  <a:tcPr marL="22989" marR="22989" marT="11495" marB="114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/>
                        <a:t>Ensemble CNN and transformer models</a:t>
                      </a:r>
                      <a:endParaRPr lang="en-US" altLang="en-US" sz="1800"/>
                    </a:p>
                  </a:txBody>
                  <a:tcPr marL="22989" marR="22989" marT="11495" marB="114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/>
                        <a:t>Dataset narrow; may confuse smoke &amp; others</a:t>
                      </a:r>
                      <a:endParaRPr lang="en-US" altLang="en-US" sz="1800"/>
                    </a:p>
                  </a:txBody>
                  <a:tcPr marL="22989" marR="22989" marT="11495" marB="11495" anchor="ctr"/>
                </a:tc>
              </a:tr>
              <a:tr h="16948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 dirty="0"/>
                        <a:t>Kang et al. (2022)</a:t>
                      </a:r>
                      <a:endParaRPr lang="en-US" altLang="en-US" sz="1800" dirty="0"/>
                    </a:p>
                  </a:txBody>
                  <a:tcPr marL="22989" marR="22989" marT="11495" marB="114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/>
                        <a:t>Geo-stationary satellite temporal data</a:t>
                      </a:r>
                      <a:endParaRPr lang="en-US" altLang="en-US" sz="1800"/>
                    </a:p>
                  </a:txBody>
                  <a:tcPr marL="22989" marR="22989" marT="11495" marB="114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/>
                        <a:t>CNN with spatial and temporal info</a:t>
                      </a:r>
                      <a:endParaRPr lang="en-US" altLang="en-US" sz="1800"/>
                    </a:p>
                  </a:txBody>
                  <a:tcPr marL="22989" marR="22989" marT="11495" marB="114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/>
                        <a:t>Low spatial detail; false alarms; cloudy areas</a:t>
                      </a:r>
                      <a:endParaRPr lang="en-US" altLang="en-US" sz="1800"/>
                    </a:p>
                  </a:txBody>
                  <a:tcPr marL="22989" marR="22989" marT="11495" marB="1149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35" y="38098"/>
            <a:ext cx="18288000" cy="10283190"/>
            <a:chOff x="0" y="3808"/>
            <a:chExt cx="18288000" cy="1028319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5506" y="3810"/>
              <a:ext cx="18212493" cy="102831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3808"/>
              <a:ext cx="803275" cy="10283190"/>
            </a:xfrm>
            <a:custGeom>
              <a:avLst/>
              <a:gdLst/>
              <a:ahLst/>
              <a:cxnLst/>
              <a:rect l="l" t="t" r="r" b="b"/>
              <a:pathLst>
                <a:path w="803275" h="10283190">
                  <a:moveTo>
                    <a:pt x="803148" y="10282998"/>
                  </a:moveTo>
                  <a:lnTo>
                    <a:pt x="0" y="10282998"/>
                  </a:lnTo>
                  <a:lnTo>
                    <a:pt x="0" y="0"/>
                  </a:lnTo>
                  <a:lnTo>
                    <a:pt x="803148" y="0"/>
                  </a:lnTo>
                  <a:lnTo>
                    <a:pt x="803148" y="10282998"/>
                  </a:lnTo>
                  <a:close/>
                </a:path>
              </a:pathLst>
            </a:custGeom>
            <a:solidFill>
              <a:srgbClr val="583C8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27125" y="183513"/>
            <a:ext cx="6223000" cy="935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40" dirty="0">
                <a:latin typeface="Times New Roman" panose="02020603050405020304" charset="0"/>
                <a:cs typeface="Times New Roman" panose="02020603050405020304" charset="0"/>
              </a:rPr>
              <a:t>Methodology</a:t>
            </a:r>
            <a:r>
              <a:rPr spc="-40" dirty="0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spc="-4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778312" y="9675147"/>
            <a:ext cx="141605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" sz="1800">
                <a:latin typeface="Calibri" panose="020F0502020204030204"/>
                <a:cs typeface="Calibri" panose="020F0502020204030204"/>
              </a:rPr>
              <a:t>4</a:t>
            </a:r>
            <a:endParaRPr lang="en-IN" altLang=""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2085100" y="1714482"/>
            <a:ext cx="14493875" cy="7555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6000"/>
              </a:lnSpc>
              <a:spcBef>
                <a:spcPts val="100"/>
              </a:spcBef>
            </a:pPr>
            <a:r>
              <a:rPr lang="en-US" altLang="en-US" spc="-10" dirty="0">
                <a:latin typeface="Times New Roman" panose="02020603050405020304" charset="0"/>
                <a:cs typeface="Times New Roman" panose="02020603050405020304" charset="0"/>
              </a:rPr>
              <a:t>Data Preprocessing: Resize images, normalize pixels, and apply augmentations like rotation and flipping</a:t>
            </a:r>
            <a:endParaRPr lang="en-US" altLang="en-US" spc="-1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5080">
              <a:lnSpc>
                <a:spcPct val="126000"/>
              </a:lnSpc>
              <a:spcBef>
                <a:spcPts val="100"/>
              </a:spcBef>
            </a:pPr>
            <a:endParaRPr lang="en-US" altLang="en-US" spc="-1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5080">
              <a:lnSpc>
                <a:spcPct val="126000"/>
              </a:lnSpc>
              <a:spcBef>
                <a:spcPts val="100"/>
              </a:spcBef>
            </a:pPr>
            <a:r>
              <a:rPr lang="en-US" altLang="en-US" spc="-10" dirty="0">
                <a:latin typeface="Times New Roman" panose="02020603050405020304" charset="0"/>
                <a:cs typeface="Times New Roman" panose="02020603050405020304" charset="0"/>
              </a:rPr>
              <a:t>Build Model: Use pretrained ResNet18, modify final layer for wildfire classification (fire/no fire)</a:t>
            </a:r>
            <a:endParaRPr lang="en-US" altLang="en-US" spc="-1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5080">
              <a:lnSpc>
                <a:spcPct val="126000"/>
              </a:lnSpc>
              <a:spcBef>
                <a:spcPts val="100"/>
              </a:spcBef>
            </a:pPr>
            <a:endParaRPr lang="en-US" altLang="en-US" spc="-1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5080">
              <a:lnSpc>
                <a:spcPct val="126000"/>
              </a:lnSpc>
              <a:spcBef>
                <a:spcPts val="100"/>
              </a:spcBef>
            </a:pPr>
            <a:r>
              <a:rPr lang="en-US" altLang="en-US" spc="-10" dirty="0">
                <a:latin typeface="Times New Roman" panose="02020603050405020304" charset="0"/>
                <a:cs typeface="Times New Roman" panose="02020603050405020304" charset="0"/>
              </a:rPr>
              <a:t>Train Model: Train using cross-entropy loss and Adam optimizer with learning rate scheduling</a:t>
            </a:r>
            <a:endParaRPr lang="en-US" altLang="en-US" spc="-1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5080">
              <a:lnSpc>
                <a:spcPct val="126000"/>
              </a:lnSpc>
              <a:spcBef>
                <a:spcPts val="100"/>
              </a:spcBef>
            </a:pPr>
            <a:endParaRPr lang="en-US" altLang="en-US" spc="-1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5080">
              <a:lnSpc>
                <a:spcPct val="126000"/>
              </a:lnSpc>
              <a:spcBef>
                <a:spcPts val="100"/>
              </a:spcBef>
            </a:pPr>
            <a:r>
              <a:rPr lang="en-US" altLang="en-US" spc="-10" dirty="0">
                <a:latin typeface="Times New Roman" panose="02020603050405020304" charset="0"/>
                <a:cs typeface="Times New Roman" panose="02020603050405020304" charset="0"/>
              </a:rPr>
              <a:t>Test Model: Evaluate accuracy and loss on validation and test datasets</a:t>
            </a:r>
            <a:endParaRPr lang="en-US" altLang="en-US" spc="-1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5080">
              <a:lnSpc>
                <a:spcPct val="126000"/>
              </a:lnSpc>
              <a:spcBef>
                <a:spcPts val="100"/>
              </a:spcBef>
            </a:pPr>
            <a:endParaRPr lang="en-US" altLang="en-US" spc="-1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5080">
              <a:lnSpc>
                <a:spcPct val="126000"/>
              </a:lnSpc>
              <a:spcBef>
                <a:spcPts val="100"/>
              </a:spcBef>
            </a:pPr>
            <a:r>
              <a:rPr lang="en-US" altLang="en-US" spc="-10" dirty="0">
                <a:latin typeface="Times New Roman" panose="02020603050405020304" charset="0"/>
                <a:cs typeface="Times New Roman" panose="02020603050405020304" charset="0"/>
              </a:rPr>
              <a:t>Deploy Model: Use the trained model for real-time wildfire detection on new images</a:t>
            </a:r>
            <a:endParaRPr lang="en-US" altLang="en-US" spc="-1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47920" y="1790479"/>
            <a:ext cx="480059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5" dirty="0">
                <a:latin typeface="Calibri" panose="020F0502020204030204"/>
                <a:cs typeface="Calibri" panose="020F0502020204030204"/>
              </a:rPr>
              <a:t>[1]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36490" y="3695906"/>
            <a:ext cx="480059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5" dirty="0">
                <a:latin typeface="Calibri" panose="020F0502020204030204"/>
                <a:cs typeface="Calibri" panose="020F0502020204030204"/>
              </a:rPr>
              <a:t>[2]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36370" y="5448300"/>
            <a:ext cx="648970" cy="45275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5" dirty="0">
                <a:latin typeface="Calibri" panose="020F0502020204030204"/>
                <a:cs typeface="Calibri" panose="020F0502020204030204"/>
              </a:rPr>
              <a:t>[3]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36490" y="7353554"/>
            <a:ext cx="480059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5" dirty="0">
                <a:latin typeface="Calibri" panose="020F0502020204030204"/>
                <a:cs typeface="Calibri" panose="020F0502020204030204"/>
              </a:rPr>
              <a:t>[4]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15"/>
          <p:cNvSpPr txBox="1"/>
          <p:nvPr/>
        </p:nvSpPr>
        <p:spPr>
          <a:xfrm>
            <a:off x="1436490" y="8648954"/>
            <a:ext cx="480059" cy="504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5" dirty="0">
                <a:latin typeface="Calibri" panose="020F0502020204030204"/>
                <a:cs typeface="Calibri" panose="020F0502020204030204"/>
              </a:rPr>
              <a:t>[</a:t>
            </a:r>
            <a:r>
              <a:rPr lang="en-IN" altLang="en-US" sz="3200" spc="-25" dirty="0">
                <a:latin typeface="Calibri" panose="020F0502020204030204"/>
                <a:cs typeface="Calibri" panose="020F0502020204030204"/>
              </a:rPr>
              <a:t>5</a:t>
            </a:r>
            <a:r>
              <a:rPr sz="3200" spc="-25" dirty="0">
                <a:latin typeface="Calibri" panose="020F0502020204030204"/>
                <a:cs typeface="Calibri" panose="020F0502020204030204"/>
              </a:rPr>
              <a:t>]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808"/>
            <a:ext cx="18288000" cy="10283190"/>
            <a:chOff x="0" y="3808"/>
            <a:chExt cx="18288000" cy="1028319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5506" y="3810"/>
              <a:ext cx="18212493" cy="102831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3808"/>
              <a:ext cx="803275" cy="10283190"/>
            </a:xfrm>
            <a:custGeom>
              <a:avLst/>
              <a:gdLst/>
              <a:ahLst/>
              <a:cxnLst/>
              <a:rect l="l" t="t" r="r" b="b"/>
              <a:pathLst>
                <a:path w="803275" h="10283190">
                  <a:moveTo>
                    <a:pt x="803148" y="10282998"/>
                  </a:moveTo>
                  <a:lnTo>
                    <a:pt x="0" y="10282998"/>
                  </a:lnTo>
                  <a:lnTo>
                    <a:pt x="0" y="0"/>
                  </a:lnTo>
                  <a:lnTo>
                    <a:pt x="803148" y="0"/>
                  </a:lnTo>
                  <a:lnTo>
                    <a:pt x="803148" y="10282998"/>
                  </a:lnTo>
                  <a:close/>
                </a:path>
              </a:pathLst>
            </a:custGeom>
            <a:solidFill>
              <a:srgbClr val="583C8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90600" y="342898"/>
            <a:ext cx="6223000" cy="935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40" dirty="0">
                <a:latin typeface="Times New Roman" panose="02020603050405020304" charset="0"/>
                <a:cs typeface="Times New Roman" panose="02020603050405020304" charset="0"/>
              </a:rPr>
              <a:t>Output</a:t>
            </a:r>
            <a:r>
              <a:rPr spc="-40" dirty="0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spc="-4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778312" y="9675147"/>
            <a:ext cx="141605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" sz="1800">
                <a:latin typeface="Calibri" panose="020F0502020204030204"/>
                <a:cs typeface="Calibri" panose="020F0502020204030204"/>
              </a:rPr>
              <a:t>5</a:t>
            </a:r>
            <a:endParaRPr lang="en-IN" altLang=""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1144270" y="1439545"/>
            <a:ext cx="16831310" cy="796671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marR="5080" indent="0">
              <a:lnSpc>
                <a:spcPct val="126000"/>
              </a:lnSpc>
              <a:spcBef>
                <a:spcPts val="100"/>
              </a:spcBef>
              <a:buFont typeface="Arial" panose="020B0604020202020204" pitchFamily="34" charset="0"/>
              <a:buNone/>
            </a:pPr>
            <a:endParaRPr lang="en-US" altLang="en-US" sz="2400" spc="-1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5080" indent="0">
              <a:lnSpc>
                <a:spcPct val="126000"/>
              </a:lnSpc>
              <a:spcBef>
                <a:spcPts val="100"/>
              </a:spcBef>
              <a:buFont typeface="Arial" panose="020B0604020202020204" pitchFamily="34" charset="0"/>
              <a:buNone/>
            </a:pPr>
            <a:endParaRPr lang="en-US" altLang="en-US" sz="2400" spc="-1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Picture 7" descr="Screenshot 2025-10-08 2152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638300"/>
            <a:ext cx="5431155" cy="5284470"/>
          </a:xfrm>
          <a:prstGeom prst="rect">
            <a:avLst/>
          </a:prstGeom>
        </p:spPr>
      </p:pic>
      <p:pic>
        <p:nvPicPr>
          <p:cNvPr id="9" name="Picture 8" descr="Screenshot 2025-10-08 21520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680" y="1638300"/>
            <a:ext cx="5226050" cy="5252720"/>
          </a:xfrm>
          <a:prstGeom prst="rect">
            <a:avLst/>
          </a:prstGeom>
        </p:spPr>
      </p:pic>
      <p:pic>
        <p:nvPicPr>
          <p:cNvPr id="11" name="Picture 10" descr="Screenshot 2025-10-08 2151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0" y="1714500"/>
            <a:ext cx="4811395" cy="51219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808"/>
            <a:ext cx="18288000" cy="10283190"/>
            <a:chOff x="0" y="3808"/>
            <a:chExt cx="18288000" cy="1028319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5506" y="3810"/>
              <a:ext cx="18212493" cy="102831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3808"/>
              <a:ext cx="803275" cy="10283190"/>
            </a:xfrm>
            <a:custGeom>
              <a:avLst/>
              <a:gdLst/>
              <a:ahLst/>
              <a:cxnLst/>
              <a:rect l="l" t="t" r="r" b="b"/>
              <a:pathLst>
                <a:path w="803275" h="10283190">
                  <a:moveTo>
                    <a:pt x="803148" y="10282998"/>
                  </a:moveTo>
                  <a:lnTo>
                    <a:pt x="0" y="10282998"/>
                  </a:lnTo>
                  <a:lnTo>
                    <a:pt x="0" y="0"/>
                  </a:lnTo>
                  <a:lnTo>
                    <a:pt x="803148" y="0"/>
                  </a:lnTo>
                  <a:lnTo>
                    <a:pt x="803148" y="10282998"/>
                  </a:lnTo>
                  <a:close/>
                </a:path>
              </a:pathLst>
            </a:custGeom>
            <a:solidFill>
              <a:srgbClr val="583C8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90600" y="342898"/>
            <a:ext cx="6223000" cy="935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40" dirty="0"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r>
              <a:rPr spc="-40" dirty="0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spc="-4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778312" y="9675147"/>
            <a:ext cx="141605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" sz="1800">
                <a:latin typeface="Calibri" panose="020F0502020204030204"/>
                <a:cs typeface="Calibri" panose="020F0502020204030204"/>
              </a:rPr>
              <a:t>6</a:t>
            </a:r>
            <a:endParaRPr lang="en-IN" altLang=""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1295160" y="2247882"/>
            <a:ext cx="14493875" cy="3112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0" algn="just">
              <a:lnSpc>
                <a:spcPct val="126000"/>
              </a:lnSpc>
              <a:spcBef>
                <a:spcPts val="100"/>
              </a:spcBef>
              <a:buFont typeface="Arial" panose="020B0604020202020204" pitchFamily="34" charset="0"/>
              <a:buNone/>
            </a:pPr>
            <a:r>
              <a:rPr lang="en-US" altLang="en-US" spc="-10" dirty="0">
                <a:latin typeface="Times New Roman" panose="02020603050405020304" charset="0"/>
                <a:cs typeface="Times New Roman" panose="02020603050405020304" charset="0"/>
              </a:rPr>
              <a:t>The model demonstrated high accuracy in detecting wildfires from satellite images, effectively distinguishing fire and non-fire areas. Using a pretrained ResNet18 and</a:t>
            </a:r>
            <a:r>
              <a:rPr lang="en-IN" altLang="en-US" spc="-1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pc="-10" dirty="0">
                <a:latin typeface="Times New Roman" panose="02020603050405020304" charset="0"/>
                <a:cs typeface="Times New Roman" panose="02020603050405020304" charset="0"/>
              </a:rPr>
              <a:t>with proper data preprocessing and augmentation helped the model generalize well despite limited training data.This method can help detect wildfires faster to protect people and the environment.</a:t>
            </a:r>
            <a:endParaRPr lang="en-US" altLang="en-US" spc="-1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35*654"/>
  <p:tag name="TABLE_ENDDRAG_RECT" val="156*111*935*65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3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2515</Words>
  <Application>WPS Presentation</Application>
  <PresentationFormat>Custom</PresentationFormat>
  <Paragraphs>124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Arial MT</vt:lpstr>
      <vt:lpstr>Arial</vt:lpstr>
      <vt:lpstr>Times New Roman</vt:lpstr>
      <vt:lpstr>Times New Roman</vt:lpstr>
      <vt:lpstr>Tahoma</vt:lpstr>
      <vt:lpstr>Montserrat</vt:lpstr>
      <vt:lpstr>Wingdings</vt:lpstr>
      <vt:lpstr>Microsoft YaHei</vt:lpstr>
      <vt:lpstr>Arial Unicode MS</vt:lpstr>
      <vt:lpstr>Calibri</vt:lpstr>
      <vt:lpstr>Office Theme</vt:lpstr>
      <vt:lpstr>PowerPoint 演示文稿</vt:lpstr>
      <vt:lpstr>Aim:</vt:lpstr>
      <vt:lpstr>Literature Survey:</vt:lpstr>
      <vt:lpstr>Methodology:</vt:lpstr>
      <vt:lpstr>References:</vt:lpstr>
      <vt:lpstr>Conclusion: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 IT -B - 2025-26 Sample FA PPT format.pptx</dc:title>
  <dc:creator/>
  <cp:lastModifiedBy>Amit Mali</cp:lastModifiedBy>
  <cp:revision>7</cp:revision>
  <dcterms:created xsi:type="dcterms:W3CDTF">2025-08-18T18:23:00Z</dcterms:created>
  <dcterms:modified xsi:type="dcterms:W3CDTF">2025-10-09T04:06:31Z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2025-08-18T16:30:00Z</vt:filetime>
  </property>
  <property fmtid="{D5CDD505-2E9C-101B-9397-08002B2CF9AE}" pid="3" name="Creator">
    <vt:lpwstr>Google</vt:lpwstr>
  </property>
  <property fmtid="{D5CDD505-2E9C-101B-9397-08002B2CF9AE}" pid="4" name="LastSaved">
    <vt:filetime>2025-08-18T16:30:00Z</vt:filetime>
  </property>
  <property fmtid="{D5CDD505-2E9C-101B-9397-08002B2CF9AE}" pid="5" name="ICV">
    <vt:lpwstr>BD718F1812B943D3BC6C3FAEC57AF89E_13</vt:lpwstr>
  </property>
  <property fmtid="{D5CDD505-2E9C-101B-9397-08002B2CF9AE}" pid="6" name="KSOProductBuildVer">
    <vt:lpwstr>1033-12.2.0.22549</vt:lpwstr>
  </property>
</Properties>
</file>